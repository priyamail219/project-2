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48678-8C29-4B46-B0A7-A3A45BC845CA}" v="2" dt="2026-05-05T17:42:16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978B1-A241-4633-9CE5-9270838E6DE0}" type="datetimeFigureOut"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9E2D3-1174-4EE8-9EFB-808871C694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4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ADB5">
              <a:alpha val="15000"/>
            </a:srgbClr>
          </a:solidFill>
          <a:ln w="12700">
            <a:solidFill>
              <a:srgbClr val="00ADB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2E63">
              <a:alpha val="15000"/>
            </a:srgbClr>
          </a:solidFill>
          <a:ln w="12700">
            <a:solidFill>
              <a:srgbClr val="FF2E6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ADB5"/>
                </a:solidFill>
              </a:rPr>
              <a:t>🧮  PYTHON · CUSTOMTKINTER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Priya's Ultimate</a:t>
            </a:r>
            <a:endParaRPr lang="en-US" sz="520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AAAAA"/>
                </a:solidFill>
              </a:rPr>
              <a:t>A dual-mode scientific calculator with real-time history, keyboard support &amp; live clock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9319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0ADB5">
              <a:alpha val="25000"/>
            </a:srgbClr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</a:rPr>
              <a:t>Standard Mode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9319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0ADB5">
              <a:alpha val="25000"/>
            </a:srgbClr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</a:rPr>
              <a:t>Scientific Mode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39319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0ADB5">
              <a:alpha val="25000"/>
            </a:srgbClr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</a:rPr>
              <a:t>History 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Made with Python &amp; CustomTkinter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ADB5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this calculator special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A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536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</a:rPr>
              <a:t>Dual Mode Tabs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0195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</a:rPr>
              <a:t>Standard &amp; Scientific modes in separate tabs. Easily switch between everyday math and advanced calculations.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A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1536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</a:rPr>
              <a:t>History Panel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90195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</a:rPr>
              <a:t>Every calculation is logged in a live history panel. Clear it anytime with one click.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A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⌨️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3227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</a:rPr>
              <a:t>Keyboard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9359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</a:rPr>
              <a:t>Full keyboard handler for digits, operators, Enter to solve, Backspace to delete, and Escape to clear.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02336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A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3227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</a:rPr>
              <a:t>Live Clock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59359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</a:rPr>
              <a:t>A real-time HH:MM:SS clock is displayed in the top bar and updates every second.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ADB5"/>
                </a:solidFill>
              </a:rPr>
              <a:t>CODE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app is structured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1A"/>
                </a:solidFill>
              </a:rPr>
              <a:t>DualSmartCalculator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2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2E63"/>
                </a:solidFill>
              </a:rPr>
              <a:t>setup_ui()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33172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</a:rPr>
              <a:t>create_buttons()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33172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A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DB5"/>
                </a:solidFill>
              </a:rPr>
              <a:t>build_grid()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</a:rPr>
              <a:t>logic(btn)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47472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74F"/>
                </a:solidFill>
              </a:rPr>
              <a:t>solve()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347472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2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2E63"/>
                </a:solidFill>
              </a:rPr>
              <a:t>update_history()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57200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AD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72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DB5"/>
                </a:solidFill>
              </a:rPr>
              <a:t>keyboard_handler()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4572000"/>
            <a:ext cx="22860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572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</a:rPr>
              <a:t>update_clock()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920240"/>
            <a:ext cx="0" cy="4114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ADB5"/>
                </a:solidFill>
              </a:rPr>
              <a:t>SCIENTIFIC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 Mathematical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23360" cy="15087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27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E"/>
                </a:solidFill>
              </a:rPr>
              <a:t>Trigonometry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sin(x)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cos(x)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tan(x)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DEG / RAD modes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Undefined check at 90°/270°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4023360" cy="15087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2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27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E63"/>
                </a:solidFill>
              </a:rPr>
              <a:t>Logarithms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log(x) → log base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ln(x) → natural 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Error on non-positive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4023360" cy="1508760"/>
          </a:xfrm>
          <a:prstGeom prst="rect">
            <a:avLst/>
          </a:prstGeom>
          <a:solidFill>
            <a:srgbClr val="1A1A2E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18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</a:rPr>
              <a:t>Powers &amp; Roots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x²  x³  x^y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√x  (square root)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EXP notation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ABS (absolute value)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1A1A2E"/>
          </a:solidFill>
          <a:ln w="19050">
            <a:solidFill>
              <a:srgbClr val="00A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18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DB5"/>
                </a:solidFill>
              </a:rPr>
              <a:t>Constants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π  (pi = 3.14159…)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  (Euler = 2.71828…)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fact(n) factorial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ADB5"/>
                </a:solidFill>
              </a:rPr>
              <a:t>UI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Layout &amp; Design Choices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DB5"/>
                </a:solidFill>
              </a:rPr>
              <a:t>App Window  (900 × 700px)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46888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Mode Label      Clock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4688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Display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2468880" cy="274320"/>
          </a:xfrm>
          <a:prstGeom prst="rect">
            <a:avLst/>
          </a:prstGeom>
          <a:solidFill>
            <a:srgbClr val="00ADB5">
              <a:alpha val="40000"/>
            </a:srgbClr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2FE"/>
                </a:solidFill>
              </a:rPr>
              <a:t>Standard  |  Scientific  (tabs)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200400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200400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00400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38728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538728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3538728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3538728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77056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3877056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3877056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3877056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15384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4215384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4215384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4215384"/>
            <a:ext cx="50292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00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Button Grid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1874520"/>
            <a:ext cx="1188720" cy="2880360"/>
          </a:xfrm>
          <a:prstGeom prst="rect">
            <a:avLst/>
          </a:prstGeom>
          <a:solidFill>
            <a:srgbClr val="0D0D1A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1874520"/>
            <a:ext cx="11887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DB5"/>
                </a:solidFill>
              </a:rPr>
              <a:t>HISTORY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ADB5"/>
                </a:solidFill>
              </a:rPr>
              <a:t>Panel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40233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2E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E63"/>
                </a:solidFill>
              </a:rPr>
              <a:t>Design Choices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🎨  Dark theme using CustomTkinter dark mode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3042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📐  900×700 fixed window, no resize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27340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🔵  Teal (#00ADB5) as primary accent color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163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🔴  Pink/red (#FF2E63) for destructive actions (C, ⌫)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593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🗂️  CTkTabview for Standard / Scientific tabs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📊  CTkTextbox for scrollable history log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453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🔤  Arial Bold throughout for clarity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ADB5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731520" cy="731520"/>
          </a:xfrm>
          <a:prstGeom prst="ellipse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0" y="1828800"/>
            <a:ext cx="365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1508760" cy="16459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Button click or keyboard event triggers logic(btn)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51176" y="1463040"/>
            <a:ext cx="731520" cy="731520"/>
          </a:xfrm>
          <a:prstGeom prst="ellipse">
            <a:avLst/>
          </a:prstGeom>
          <a:solidFill>
            <a:srgbClr val="00ADB5"/>
          </a:solidFill>
          <a:ln w="12700">
            <a:solidFill>
              <a:srgbClr val="00A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28416" y="1828800"/>
            <a:ext cx="365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2377440"/>
            <a:ext cx="1508760" cy="16459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A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DB5"/>
                </a:solidFill>
              </a:rPr>
              <a:t>Expression Built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85416" y="2880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Characters appended to self.expression string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33672" y="1463040"/>
            <a:ext cx="731520" cy="73152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10912" y="1828800"/>
            <a:ext cx="365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2377440"/>
            <a:ext cx="1508760" cy="1645920"/>
          </a:xfrm>
          <a:prstGeom prst="rect">
            <a:avLst/>
          </a:prstGeom>
          <a:solidFill>
            <a:srgbClr val="1A1A2E"/>
          </a:solidFill>
          <a:ln w="15240">
            <a:solidFill>
              <a:srgbClr val="F9C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</a:rPr>
              <a:t>Solve Called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67912" y="2880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eval() executes expression in a safe context dict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16168" y="1463040"/>
            <a:ext cx="731520" cy="731520"/>
          </a:xfrm>
          <a:prstGeom prst="ellipse">
            <a:avLst/>
          </a:prstGeom>
          <a:solidFill>
            <a:srgbClr val="FF2E63"/>
          </a:solidFill>
          <a:ln w="12700">
            <a:solidFill>
              <a:srgbClr val="FF2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6168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93408" y="1828800"/>
            <a:ext cx="365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2377440"/>
            <a:ext cx="1508760" cy="1645920"/>
          </a:xfrm>
          <a:prstGeom prst="rect">
            <a:avLst/>
          </a:prstGeom>
          <a:solidFill>
            <a:srgbClr val="1A1A2E"/>
          </a:solidFill>
          <a:ln w="15240">
            <a:solidFill>
              <a:srgbClr val="FF2E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0408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E63"/>
                </a:solidFill>
              </a:rPr>
              <a:t>Result Shown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0408" y="2880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Result displayed on screen via StringVar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98664" y="1463040"/>
            <a:ext cx="731520" cy="731520"/>
          </a:xfrm>
          <a:prstGeom prst="ellipse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98664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187184" y="2377440"/>
            <a:ext cx="1508760" cy="16459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F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32904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</a:rPr>
              <a:t>History Updated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32904" y="2880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Entry added to scrollable CTkTextbox history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solidFill>
            <a:srgbClr val="1A1A00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C74F"/>
                </a:solidFill>
              </a:rPr>
              <a:t>⚠️  eval() is sandboxed with {"__builtins__": None} and a safe context — preventing code injection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0ADB5">
              <a:alpha val="12000"/>
            </a:srgbClr>
          </a:solidFill>
          <a:ln w="12700">
            <a:solidFill>
              <a:srgbClr val="00ADB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F2E63">
              <a:alpha val="12000"/>
            </a:srgbClr>
          </a:solidFill>
          <a:ln w="12700">
            <a:solidFill>
              <a:srgbClr val="FF2E6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ADB5"/>
                </a:solidFill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Priya's Ultimate Calculator</a:t>
            </a:r>
            <a:endParaRPr lang="en-US" sz="4000"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AAAA"/>
                </a:solidFill>
              </a:rPr>
              <a:t>— delivers a complete, real-world calculator experience 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Dual-tab interface: Standard &amp; Scientific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7157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</a:rPr>
              <a:t>✅  Trigonometry with DEG/RAD switching &amp; edge-case handling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0998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Safe expression evaluation with sandboxed eval()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48386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</a:rPr>
              <a:t>✅  Full keyboard control: digits, operators, Enter, Backspace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8679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Persistent session history with clear button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</a:rPr>
              <a:t>✅  Live real-time clock in the header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Pooja's Ultimate Calculator</dc:title>
  <dc:subject>PptxGenJS Presentation</dc:subject>
  <dc:creator>Pooja</dc:creator>
  <cp:lastModifiedBy>Pooja</cp:lastModifiedBy>
  <cp:revision>6</cp:revision>
  <dcterms:created xsi:type="dcterms:W3CDTF">2026-05-05T17:11:54Z</dcterms:created>
  <dcterms:modified xsi:type="dcterms:W3CDTF">2026-05-05T17:43:03Z</dcterms:modified>
</cp:coreProperties>
</file>